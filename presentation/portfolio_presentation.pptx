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  <p:sldId id="262" r:id="rId11"/>
    <p:sldId id="269" r:id="rId12"/>
    <p:sldId id="263" r:id="rId13"/>
    <p:sldId id="270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Multi-Domain Data Analysis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Analyst Internship – Month 2</a:t>
            </a:r>
          </a:p>
          <a:p>
            <a:r>
              <a:t>Author: Ayisha Mariyam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5 end-to-end data analysis projects across multiple domains</a:t>
            </a:r>
          </a:p>
          <a:p>
            <a:r>
              <a:t>Demonstrates data cleaning, EDA, feature engineering and visualization</a:t>
            </a:r>
          </a:p>
          <a:p>
            <a:r>
              <a:t>Built using Python data analytics ecosystem</a:t>
            </a:r>
          </a:p>
          <a:p>
            <a:r>
              <a:t>Projects generate business insights and recommendations</a:t>
            </a:r>
          </a:p>
          <a:p>
            <a:r>
              <a:t>Showcases practical analytical skills used in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 for data manipulation</a:t>
            </a:r>
          </a:p>
          <a:p>
            <a:r>
              <a:t>NumPy for numerical computation</a:t>
            </a:r>
          </a:p>
          <a:p>
            <a:r>
              <a:t>Matplotlib &amp; Seaborn for visualization</a:t>
            </a:r>
          </a:p>
          <a:p>
            <a:r>
              <a:t>Jupyter Notebook for analysis workflow</a:t>
            </a:r>
          </a:p>
          <a:p>
            <a:r>
              <a:t>GitHub for portfolio hosting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 1 – Supermarket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Analyzed retail transaction data to identify sales trends</a:t>
            </a:r>
          </a:p>
          <a:p>
            <a:r>
              <a:t>Examined product category performance</a:t>
            </a:r>
          </a:p>
          <a:p>
            <a:r>
              <a:t>Identified peak shopping times and customer behavior patterns</a:t>
            </a:r>
          </a:p>
          <a:p>
            <a:r>
              <a:t>Electronics category generated the highest revenue</a:t>
            </a:r>
          </a:p>
          <a:p>
            <a:r>
              <a:t>Weekend sales significantly higher than weekday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48469-B373-E020-D83A-F278E3579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Final Summary Report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A84B3-4B90-1BBB-FDF4-15AC2BD8FC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3800" dirty="0"/>
              <a:t>📊 </a:t>
            </a:r>
            <a:r>
              <a:rPr lang="en-US" sz="3800" b="1" dirty="0"/>
              <a:t>OVERVIEW:</a:t>
            </a:r>
            <a:br>
              <a:rPr lang="en-US" sz="3800" dirty="0"/>
            </a:br>
            <a:r>
              <a:rPr lang="en-US" sz="3800" dirty="0"/>
              <a:t>• Total Analysis Period: 3 Months</a:t>
            </a:r>
            <a:br>
              <a:rPr lang="en-US" sz="3800" dirty="0"/>
            </a:br>
            <a:r>
              <a:rPr lang="en-US" sz="3800" dirty="0"/>
              <a:t>• Total Sales Revenue: ₹12,450,000</a:t>
            </a:r>
            <a:br>
              <a:rPr lang="en-US" sz="3800" dirty="0"/>
            </a:br>
            <a:r>
              <a:rPr lang="en-US" sz="3800" dirty="0"/>
              <a:t>• Total Transactions: 8,540</a:t>
            </a:r>
            <a:br>
              <a:rPr lang="en-US" sz="3800" dirty="0"/>
            </a:br>
            <a:r>
              <a:rPr lang="en-US" sz="3800" dirty="0"/>
              <a:t>• Average Transaction Value: ₹1,458</a:t>
            </a:r>
          </a:p>
          <a:p>
            <a:pPr>
              <a:lnSpc>
                <a:spcPct val="170000"/>
              </a:lnSpc>
            </a:pPr>
            <a:r>
              <a:rPr lang="en-US" sz="3800" dirty="0"/>
              <a:t>🏆 </a:t>
            </a:r>
            <a:r>
              <a:rPr lang="en-US" sz="3800" b="1" dirty="0"/>
              <a:t>TOP PERFORMING CATEGORIES:</a:t>
            </a:r>
            <a:endParaRPr lang="en-US" sz="3800" dirty="0"/>
          </a:p>
          <a:p>
            <a:pPr>
              <a:lnSpc>
                <a:spcPct val="170000"/>
              </a:lnSpc>
            </a:pPr>
            <a:r>
              <a:rPr lang="en-US" sz="3800" dirty="0"/>
              <a:t>Electronics: ₹4,250,000 (34% of total sales)</a:t>
            </a:r>
          </a:p>
          <a:p>
            <a:pPr>
              <a:lnSpc>
                <a:spcPct val="170000"/>
              </a:lnSpc>
            </a:pPr>
            <a:r>
              <a:rPr lang="en-US" sz="3800" dirty="0"/>
              <a:t>Groceries: ₹3,120,000 (25%)</a:t>
            </a:r>
          </a:p>
          <a:p>
            <a:pPr>
              <a:lnSpc>
                <a:spcPct val="170000"/>
              </a:lnSpc>
            </a:pPr>
            <a:r>
              <a:rPr lang="en-US" sz="3800" dirty="0"/>
              <a:t>Clothing: ₹2,850,000 (23%)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CD5DC-736A-F93E-F527-A2C18AB2D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321139" cy="5257800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800" dirty="0"/>
              <a:t>📅 </a:t>
            </a:r>
            <a:r>
              <a:rPr lang="en-US" sz="3800" b="1" dirty="0"/>
              <a:t>SALES TRENDS:</a:t>
            </a:r>
            <a:br>
              <a:rPr lang="en-US" sz="3800" dirty="0"/>
            </a:br>
            <a:r>
              <a:rPr lang="en-US" sz="3800" dirty="0"/>
              <a:t>• Highest Sales Day: Saturday</a:t>
            </a:r>
            <a:br>
              <a:rPr lang="en-US" sz="3800" dirty="0"/>
            </a:br>
            <a:r>
              <a:rPr lang="en-US" sz="3800" dirty="0"/>
              <a:t>• Highest Sales Month: March</a:t>
            </a:r>
            <a:br>
              <a:rPr lang="en-US" sz="3800" dirty="0"/>
            </a:br>
            <a:r>
              <a:rPr lang="en-US" sz="3800" dirty="0"/>
              <a:t>• Peak Shopping Hours: 5 PM – 7 PM</a:t>
            </a:r>
          </a:p>
          <a:p>
            <a:pPr>
              <a:lnSpc>
                <a:spcPct val="120000"/>
              </a:lnSpc>
            </a:pPr>
            <a:r>
              <a:rPr lang="en-US" sz="3800" dirty="0"/>
              <a:t>💡 </a:t>
            </a:r>
            <a:r>
              <a:rPr lang="en-US" sz="3800" b="1" dirty="0"/>
              <a:t>BUSINESS INSIGHTS:</a:t>
            </a:r>
            <a:endParaRPr lang="en-US" sz="3800" dirty="0"/>
          </a:p>
          <a:p>
            <a:pPr>
              <a:lnSpc>
                <a:spcPct val="120000"/>
              </a:lnSpc>
            </a:pPr>
            <a:r>
              <a:rPr lang="en-US" sz="3800" dirty="0"/>
              <a:t>Electronics contribute the largest share of revenue.</a:t>
            </a:r>
          </a:p>
          <a:p>
            <a:pPr>
              <a:lnSpc>
                <a:spcPct val="120000"/>
              </a:lnSpc>
            </a:pPr>
            <a:r>
              <a:rPr lang="en-US" sz="3800" dirty="0"/>
              <a:t>Weekend sales are significantly higher than weekdays.</a:t>
            </a:r>
          </a:p>
          <a:p>
            <a:pPr>
              <a:lnSpc>
                <a:spcPct val="120000"/>
              </a:lnSpc>
            </a:pPr>
            <a:r>
              <a:rPr lang="en-US" sz="3800" dirty="0"/>
              <a:t>Evening hours generate the highest number of purchases.</a:t>
            </a:r>
          </a:p>
          <a:p>
            <a:pPr>
              <a:lnSpc>
                <a:spcPct val="120000"/>
              </a:lnSpc>
            </a:pPr>
            <a:r>
              <a:rPr lang="en-US" sz="3800" dirty="0"/>
              <a:t>🎯 </a:t>
            </a:r>
            <a:r>
              <a:rPr lang="en-US" sz="3800" b="1" dirty="0"/>
              <a:t>RECOMMENDATIONS:</a:t>
            </a:r>
            <a:endParaRPr lang="en-US" sz="3800" dirty="0"/>
          </a:p>
          <a:p>
            <a:pPr>
              <a:lnSpc>
                <a:spcPct val="120000"/>
              </a:lnSpc>
            </a:pPr>
            <a:r>
              <a:rPr lang="en-US" sz="3800" dirty="0"/>
              <a:t>Increase electronics inventory during high-demand periods.</a:t>
            </a:r>
          </a:p>
          <a:p>
            <a:pPr>
              <a:lnSpc>
                <a:spcPct val="120000"/>
              </a:lnSpc>
            </a:pPr>
            <a:r>
              <a:rPr lang="en-US" sz="3800" dirty="0"/>
              <a:t>Introduce weekend promotional campaigns.</a:t>
            </a:r>
          </a:p>
          <a:p>
            <a:pPr>
              <a:lnSpc>
                <a:spcPct val="120000"/>
              </a:lnSpc>
            </a:pPr>
            <a:r>
              <a:rPr lang="en-US" sz="3800" dirty="0"/>
              <a:t>Optimize staff scheduling for evening hours.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9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 2 – Student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Analyzed student academic performance dataset</a:t>
            </a:r>
          </a:p>
          <a:p>
            <a:r>
              <a:t>Evaluated score distributions and subject performance</a:t>
            </a:r>
          </a:p>
          <a:p>
            <a:r>
              <a:t>Studied impact of attendance on academic results</a:t>
            </a:r>
          </a:p>
          <a:p>
            <a:r>
              <a:t>Higher attendance linked with better performance</a:t>
            </a:r>
          </a:p>
          <a:p>
            <a:r>
              <a:t>Mathematics showed highest score variation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FEE85-8B37-2415-1A76-2D67DFE1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Final Summary Report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00F68-C0A5-C403-F21F-68F025609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91000" cy="6033499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500" dirty="0"/>
              <a:t>📊 </a:t>
            </a:r>
            <a:r>
              <a:rPr lang="en-US" sz="4500" b="1" dirty="0"/>
              <a:t>OVERVIEW:</a:t>
            </a:r>
            <a:br>
              <a:rPr lang="en-US" sz="4500" dirty="0"/>
            </a:br>
            <a:r>
              <a:rPr lang="en-US" sz="4500" dirty="0"/>
              <a:t>• Total Students Analyzed: 1,000</a:t>
            </a:r>
            <a:br>
              <a:rPr lang="en-US" sz="4500" dirty="0"/>
            </a:br>
            <a:r>
              <a:rPr lang="en-US" sz="4500" dirty="0"/>
              <a:t>• Average Overall Score: 68%</a:t>
            </a:r>
            <a:br>
              <a:rPr lang="en-US" sz="4500" dirty="0"/>
            </a:br>
            <a:r>
              <a:rPr lang="en-US" sz="4500" dirty="0"/>
              <a:t>• Pass Rate: 78%</a:t>
            </a:r>
            <a:br>
              <a:rPr lang="en-US" sz="4500" dirty="0"/>
            </a:br>
            <a:r>
              <a:rPr lang="en-US" sz="4500" dirty="0"/>
              <a:t>• Fail Rate: 22%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🏆 </a:t>
            </a:r>
            <a:r>
              <a:rPr lang="en-US" sz="4500" b="1" dirty="0"/>
              <a:t>TOP SUBJECT PERFORMANCE:</a:t>
            </a:r>
            <a:endParaRPr lang="en-US" sz="4500" dirty="0"/>
          </a:p>
          <a:p>
            <a:pPr>
              <a:lnSpc>
                <a:spcPct val="120000"/>
              </a:lnSpc>
            </a:pPr>
            <a:r>
              <a:rPr lang="en-US" sz="4500" dirty="0"/>
              <a:t>Mathematics: Average Score 72%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Science: Average Score 69%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English: Average Score 64%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📅 </a:t>
            </a:r>
            <a:r>
              <a:rPr lang="en-US" sz="4500" b="1" dirty="0"/>
              <a:t>PERFORMANCE TRENDS:</a:t>
            </a:r>
            <a:br>
              <a:rPr lang="en-US" sz="4500" dirty="0"/>
            </a:br>
            <a:r>
              <a:rPr lang="en-US" sz="4500" dirty="0"/>
              <a:t>• Students with </a:t>
            </a:r>
            <a:r>
              <a:rPr lang="en-US" sz="4500" b="1" dirty="0"/>
              <a:t>higher attendance (&gt;85%) score 15% higher</a:t>
            </a:r>
            <a:r>
              <a:rPr lang="en-US" sz="4500" dirty="0"/>
              <a:t> on average.</a:t>
            </a:r>
            <a:br>
              <a:rPr lang="en-US" sz="4500" dirty="0"/>
            </a:br>
            <a:r>
              <a:rPr lang="en-US" sz="4500" dirty="0"/>
              <a:t>• Mathematics shows the </a:t>
            </a:r>
            <a:r>
              <a:rPr lang="en-US" sz="4500" b="1" dirty="0"/>
              <a:t>highest score variance</a:t>
            </a:r>
            <a:r>
              <a:rPr lang="en-US" sz="4500" dirty="0"/>
              <a:t> among subjects.</a:t>
            </a:r>
            <a:br>
              <a:rPr lang="en-US" sz="4500" dirty="0"/>
            </a:br>
            <a:r>
              <a:rPr lang="en-US" sz="4500" dirty="0"/>
              <a:t>• Female students demonstrate slightly higher average scores.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648D8A-EA04-06F4-D96F-99BCD145A7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500" dirty="0"/>
              <a:t>💡 </a:t>
            </a:r>
            <a:r>
              <a:rPr lang="en-US" sz="4500" b="1" dirty="0"/>
              <a:t>EDUCATIONAL INSIGHTS:</a:t>
            </a:r>
            <a:endParaRPr lang="en-US" sz="4500" dirty="0"/>
          </a:p>
          <a:p>
            <a:pPr>
              <a:lnSpc>
                <a:spcPct val="120000"/>
              </a:lnSpc>
            </a:pPr>
            <a:r>
              <a:rPr lang="en-US" sz="4500" dirty="0"/>
              <a:t>Attendance strongly influences student performance.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Mathematics requires additional academic support.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Students performing well in one subject tend to perform well overall.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🎯 </a:t>
            </a:r>
            <a:r>
              <a:rPr lang="en-US" sz="4500" b="1" dirty="0"/>
              <a:t>RECOMMENDATIONS:</a:t>
            </a:r>
            <a:endParaRPr lang="en-US" sz="4500" dirty="0"/>
          </a:p>
          <a:p>
            <a:pPr>
              <a:lnSpc>
                <a:spcPct val="120000"/>
              </a:lnSpc>
            </a:pPr>
            <a:r>
              <a:rPr lang="en-US" sz="4500" dirty="0"/>
              <a:t>Implement attendance improvement programs.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Provide additional tutoring for mathematics.</a:t>
            </a:r>
          </a:p>
          <a:p>
            <a:pPr>
              <a:lnSpc>
                <a:spcPct val="120000"/>
              </a:lnSpc>
            </a:pPr>
            <a:r>
              <a:rPr lang="en-US" sz="4500" dirty="0"/>
              <a:t>Introduce personalized academic support for low-performing students.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01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3 – Weather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Explored environmental dataset containing temperature and rainfall data</a:t>
            </a:r>
          </a:p>
          <a:p>
            <a:r>
              <a:t>Analyzed weather distribution and seasonal patterns</a:t>
            </a:r>
          </a:p>
          <a:p>
            <a:r>
              <a:t>Studied relationship between humidity and rainfall</a:t>
            </a:r>
          </a:p>
          <a:p>
            <a:r>
              <a:t>Temperature values fluctuate across observations</a:t>
            </a:r>
          </a:p>
          <a:p>
            <a:r>
              <a:t>Rainfall strongly related to humidity levels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16AFB8-E197-6AC4-175E-FDF83BEB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Final Summary Report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07DD7C-ACEF-9E5B-0583-C97984096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4800" cy="559171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📊 </a:t>
            </a:r>
            <a:r>
              <a:rPr lang="en-US" b="1" dirty="0"/>
              <a:t>OVERVIEW:</a:t>
            </a:r>
            <a:br>
              <a:rPr lang="en-US" dirty="0"/>
            </a:br>
            <a:r>
              <a:rPr lang="en-US" dirty="0"/>
              <a:t>• Total Weather Records: 1,500</a:t>
            </a:r>
            <a:br>
              <a:rPr lang="en-US" dirty="0"/>
            </a:br>
            <a:r>
              <a:rPr lang="en-US" dirty="0"/>
              <a:t>• Average Temperature: 27°C</a:t>
            </a:r>
            <a:br>
              <a:rPr lang="en-US" dirty="0"/>
            </a:br>
            <a:r>
              <a:rPr lang="en-US" dirty="0"/>
              <a:t>• Average Rainfall: 5.4 mm</a:t>
            </a:r>
            <a:br>
              <a:rPr lang="en-US" dirty="0"/>
            </a:br>
            <a:r>
              <a:rPr lang="en-US" dirty="0"/>
              <a:t>• Average Humidity: 68%</a:t>
            </a:r>
          </a:p>
          <a:p>
            <a:pPr>
              <a:lnSpc>
                <a:spcPct val="120000"/>
              </a:lnSpc>
            </a:pPr>
            <a:r>
              <a:rPr lang="en-US" dirty="0"/>
              <a:t>🌦 </a:t>
            </a:r>
            <a:r>
              <a:rPr lang="en-US" b="1" dirty="0"/>
              <a:t>WEATHER PATTERNS: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Highest Temperature Recorded: 38°C</a:t>
            </a:r>
          </a:p>
          <a:p>
            <a:pPr>
              <a:lnSpc>
                <a:spcPct val="120000"/>
              </a:lnSpc>
            </a:pPr>
            <a:r>
              <a:rPr lang="en-US" dirty="0"/>
              <a:t>Lowest Temperature Recorded: 16°C</a:t>
            </a:r>
          </a:p>
          <a:p>
            <a:pPr>
              <a:lnSpc>
                <a:spcPct val="120000"/>
              </a:lnSpc>
            </a:pPr>
            <a:r>
              <a:rPr lang="en-US" dirty="0"/>
              <a:t>Rainfall Peaks during monsoon months.</a:t>
            </a:r>
          </a:p>
          <a:p>
            <a:pPr>
              <a:lnSpc>
                <a:spcPct val="120000"/>
              </a:lnSpc>
            </a:pPr>
            <a:r>
              <a:rPr lang="en-US" dirty="0"/>
              <a:t>📅 </a:t>
            </a:r>
            <a:r>
              <a:rPr lang="en-US" b="1" dirty="0"/>
              <a:t>CLIMATE TRENDS:</a:t>
            </a:r>
            <a:br>
              <a:rPr lang="en-US" dirty="0"/>
            </a:br>
            <a:r>
              <a:rPr lang="en-US" dirty="0"/>
              <a:t>• Humidity increases during rainy periods.</a:t>
            </a:r>
            <a:br>
              <a:rPr lang="en-US" dirty="0"/>
            </a:br>
            <a:r>
              <a:rPr lang="en-US" dirty="0"/>
              <a:t>• Higher temperature days show lower humidity levels.</a:t>
            </a:r>
            <a:br>
              <a:rPr lang="en-US" dirty="0"/>
            </a:br>
            <a:r>
              <a:rPr lang="en-US" dirty="0"/>
              <a:t>• Rainfall distribution varies significantly across months.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880AD-026D-7698-6F99-26F7676B0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14800" cy="52578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💡 </a:t>
            </a:r>
            <a:r>
              <a:rPr lang="en-US" b="1" dirty="0"/>
              <a:t>ENVIRONMENTAL INSIGHTS:</a:t>
            </a:r>
            <a:endParaRPr lang="en-US" dirty="0"/>
          </a:p>
          <a:p>
            <a:r>
              <a:rPr lang="en-US" dirty="0"/>
              <a:t>Rainfall is strongly associated with higher humidity levels.</a:t>
            </a:r>
          </a:p>
          <a:p>
            <a:r>
              <a:rPr lang="en-US" dirty="0"/>
              <a:t>Temperature variations indicate seasonal weather changes.</a:t>
            </a:r>
          </a:p>
          <a:p>
            <a:r>
              <a:rPr lang="en-US" dirty="0"/>
              <a:t>Extreme weather events are relatively infrequent.</a:t>
            </a:r>
          </a:p>
          <a:p>
            <a:r>
              <a:rPr lang="en-US" dirty="0"/>
              <a:t>🎯 </a:t>
            </a:r>
            <a:r>
              <a:rPr lang="en-US" b="1" dirty="0"/>
              <a:t>RECOMMENDATIONS:</a:t>
            </a:r>
            <a:endParaRPr lang="en-US" dirty="0"/>
          </a:p>
          <a:p>
            <a:r>
              <a:rPr lang="en-US" dirty="0"/>
              <a:t>Improve early rainfall prediction systems.</a:t>
            </a:r>
          </a:p>
          <a:p>
            <a:r>
              <a:rPr lang="en-US" dirty="0"/>
              <a:t>Monitor high-temperature periods for climate risk assessment.</a:t>
            </a:r>
          </a:p>
          <a:p>
            <a:r>
              <a:rPr lang="en-US" dirty="0"/>
              <a:t>Use weather analytics for agriculture and water management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1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4 – COVID-19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Analyzed pandemic dataset including confirmed, recovered and death cases</a:t>
            </a:r>
          </a:p>
          <a:p>
            <a:r>
              <a:t>Performed feature engineering for active cases and rates</a:t>
            </a:r>
          </a:p>
          <a:p>
            <a:r>
              <a:t>Explored correlations between pandemic indicators</a:t>
            </a:r>
          </a:p>
          <a:p>
            <a:r>
              <a:t>Recovery rates significantly higher than mortality rates</a:t>
            </a:r>
          </a:p>
          <a:p>
            <a:r>
              <a:t>Confirmed cases strongly correlated with deaths and recoveries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769E8F-99F4-4985-A596-C5C39E7A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Final Summary Report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CDA533-12A8-4115-894F-FFCABA90E4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000" dirty="0"/>
              <a:t>📊 </a:t>
            </a:r>
            <a:r>
              <a:rPr lang="en-US" sz="4000" b="1" dirty="0"/>
              <a:t>OVERVIEW:</a:t>
            </a:r>
            <a:br>
              <a:rPr lang="en-US" sz="4000" dirty="0"/>
            </a:br>
            <a:r>
              <a:rPr lang="en-US" sz="4000" dirty="0"/>
              <a:t>• Total Records Analyzed: 1,200</a:t>
            </a:r>
            <a:br>
              <a:rPr lang="en-US" sz="4000" dirty="0"/>
            </a:br>
            <a:r>
              <a:rPr lang="en-US" sz="4000" dirty="0"/>
              <a:t>• Total Confirmed Cases: 850,000</a:t>
            </a:r>
            <a:br>
              <a:rPr lang="en-US" sz="4000" dirty="0"/>
            </a:br>
            <a:r>
              <a:rPr lang="en-US" sz="4000" dirty="0"/>
              <a:t>• Total Recovered Cases: 760,000</a:t>
            </a:r>
            <a:br>
              <a:rPr lang="en-US" sz="4000" dirty="0"/>
            </a:br>
            <a:r>
              <a:rPr lang="en-US" sz="4000" dirty="0"/>
              <a:t>• Total Deaths: 24,500</a:t>
            </a:r>
          </a:p>
          <a:p>
            <a:pPr>
              <a:lnSpc>
                <a:spcPct val="120000"/>
              </a:lnSpc>
            </a:pPr>
            <a:r>
              <a:rPr lang="en-US" sz="4000" dirty="0"/>
              <a:t>📈 </a:t>
            </a:r>
            <a:r>
              <a:rPr lang="en-US" sz="4000" b="1" dirty="0"/>
              <a:t>PANDEMIC INDICATORS:</a:t>
            </a:r>
            <a:br>
              <a:rPr lang="en-US" sz="4000" dirty="0"/>
            </a:br>
            <a:r>
              <a:rPr lang="en-US" sz="4000" dirty="0"/>
              <a:t>• Average Recovery Rate: 89%</a:t>
            </a:r>
            <a:br>
              <a:rPr lang="en-US" sz="4000" dirty="0"/>
            </a:br>
            <a:r>
              <a:rPr lang="en-US" sz="4000" dirty="0"/>
              <a:t>• Average Death Rate: 2.8%</a:t>
            </a:r>
            <a:br>
              <a:rPr lang="en-US" sz="4000" dirty="0"/>
            </a:br>
            <a:r>
              <a:rPr lang="en-US" sz="4000" dirty="0"/>
              <a:t>• Active Cases fluctuate across time periods.</a:t>
            </a:r>
          </a:p>
          <a:p>
            <a:pPr>
              <a:lnSpc>
                <a:spcPct val="120000"/>
              </a:lnSpc>
            </a:pPr>
            <a:r>
              <a:rPr lang="en-US" sz="4000" dirty="0"/>
              <a:t>📅 </a:t>
            </a:r>
            <a:r>
              <a:rPr lang="en-US" sz="4000" b="1" dirty="0"/>
              <a:t>PANDEMIC TRENDS:</a:t>
            </a:r>
            <a:br>
              <a:rPr lang="en-US" sz="4000" dirty="0"/>
            </a:br>
            <a:r>
              <a:rPr lang="en-US" sz="4000" dirty="0"/>
              <a:t>• Confirmed cases increase sharply during outbreak waves.</a:t>
            </a:r>
            <a:br>
              <a:rPr lang="en-US" sz="4000" dirty="0"/>
            </a:br>
            <a:r>
              <a:rPr lang="en-US" sz="4000" dirty="0"/>
              <a:t>• Recovery counts follow confirmed case trends.</a:t>
            </a:r>
            <a:br>
              <a:rPr lang="en-US" sz="4000" dirty="0"/>
            </a:br>
            <a:r>
              <a:rPr lang="en-US" sz="4000" dirty="0"/>
              <a:t>• Death counts rise proportionally with infection numbers.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0C9A6-7689-CBD5-D467-97AA660C31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4500" dirty="0"/>
              <a:t>💡 </a:t>
            </a:r>
            <a:r>
              <a:rPr lang="en-US" sz="4500" b="1" dirty="0"/>
              <a:t>HEALTH INSIGHTS:</a:t>
            </a:r>
            <a:endParaRPr lang="en-US" sz="4500" dirty="0"/>
          </a:p>
          <a:p>
            <a:pPr>
              <a:buFont typeface="+mj-lt"/>
              <a:buAutoNum type="arabicPeriod"/>
            </a:pPr>
            <a:r>
              <a:rPr lang="en-US" sz="4500" dirty="0"/>
              <a:t>Recovery rates are significantly higher than death rates.</a:t>
            </a:r>
          </a:p>
          <a:p>
            <a:pPr>
              <a:buFont typeface="+mj-lt"/>
              <a:buAutoNum type="arabicPeriod"/>
            </a:pPr>
            <a:r>
              <a:rPr lang="en-US" sz="4500" dirty="0"/>
              <a:t>Higher confirmed cases lead to increased healthcare pressure.</a:t>
            </a:r>
          </a:p>
          <a:p>
            <a:pPr>
              <a:buFont typeface="+mj-lt"/>
              <a:buAutoNum type="arabicPeriod"/>
            </a:pPr>
            <a:r>
              <a:rPr lang="en-US" sz="4500" dirty="0"/>
              <a:t>Strong correlations exist between confirmed, recovered, and death variables.</a:t>
            </a:r>
          </a:p>
          <a:p>
            <a:pPr>
              <a:buNone/>
            </a:pPr>
            <a:r>
              <a:rPr lang="en-US" sz="4500" dirty="0"/>
              <a:t>🎯 </a:t>
            </a:r>
            <a:r>
              <a:rPr lang="en-US" sz="4500" b="1" dirty="0"/>
              <a:t>RECOMMENDATIONS:</a:t>
            </a:r>
            <a:endParaRPr lang="en-US" sz="4500" dirty="0"/>
          </a:p>
          <a:p>
            <a:pPr>
              <a:buFont typeface="+mj-lt"/>
              <a:buAutoNum type="arabicPeriod"/>
            </a:pPr>
            <a:r>
              <a:rPr lang="en-US" sz="4500" dirty="0"/>
              <a:t>Strengthen monitoring of regions with rising cases.</a:t>
            </a:r>
          </a:p>
          <a:p>
            <a:pPr>
              <a:buFont typeface="+mj-lt"/>
              <a:buAutoNum type="arabicPeriod"/>
            </a:pPr>
            <a:r>
              <a:rPr lang="en-US" sz="4500" dirty="0"/>
              <a:t>Allocate healthcare resources based on active cases.</a:t>
            </a:r>
          </a:p>
          <a:p>
            <a:pPr>
              <a:buFont typeface="+mj-lt"/>
              <a:buAutoNum type="arabicPeriod"/>
            </a:pPr>
            <a:r>
              <a:rPr lang="en-US" sz="4500" dirty="0"/>
              <a:t>Implement early detection and outbreak prevention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1000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5 – Stock 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Analyzed financial dataset containing stock price movements</a:t>
            </a:r>
          </a:p>
          <a:p>
            <a:r>
              <a:t>Studied opening, closing, high and low price relationships</a:t>
            </a:r>
          </a:p>
          <a:p>
            <a:r>
              <a:t>Evaluated daily return patterns</a:t>
            </a:r>
          </a:p>
          <a:p>
            <a:r>
              <a:t>Observed market volatility and trading volume changes</a:t>
            </a:r>
          </a:p>
          <a:p>
            <a:r>
              <a:t>Opening and closing prices show strong correlation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1DA9EE-9E30-D518-14E3-C9EF69ED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Final Summary Report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E3F84F-80F0-2D40-D393-2C36EBDDEE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/>
              <a:t>📊 </a:t>
            </a:r>
            <a:r>
              <a:rPr lang="en-US" b="1" dirty="0"/>
              <a:t>OVERVIEW:</a:t>
            </a:r>
            <a:br>
              <a:rPr lang="en-US" dirty="0"/>
            </a:br>
            <a:r>
              <a:rPr lang="en-US" dirty="0"/>
              <a:t>• Total Trading Days Analyzed: 500</a:t>
            </a:r>
            <a:br>
              <a:rPr lang="en-US" dirty="0"/>
            </a:br>
            <a:r>
              <a:rPr lang="en-US" dirty="0"/>
              <a:t>• Average Opening Price: $145</a:t>
            </a:r>
            <a:br>
              <a:rPr lang="en-US" dirty="0"/>
            </a:br>
            <a:r>
              <a:rPr lang="en-US" dirty="0"/>
              <a:t>• Average Closing Price: $147</a:t>
            </a:r>
            <a:br>
              <a:rPr lang="en-US" dirty="0"/>
            </a:br>
            <a:r>
              <a:rPr lang="en-US" dirty="0"/>
              <a:t>• Average Trading Volume: 2.5 Million Shares</a:t>
            </a:r>
          </a:p>
          <a:p>
            <a:pPr>
              <a:buNone/>
            </a:pPr>
            <a:r>
              <a:rPr lang="en-US" dirty="0"/>
              <a:t>📈 </a:t>
            </a:r>
            <a:r>
              <a:rPr lang="en-US" b="1" dirty="0"/>
              <a:t>MARKET PERFORMANCE: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Highest Stock Price: $198</a:t>
            </a:r>
          </a:p>
          <a:p>
            <a:pPr>
              <a:buFont typeface="+mj-lt"/>
              <a:buAutoNum type="arabicPeriod"/>
            </a:pPr>
            <a:r>
              <a:rPr lang="en-US" dirty="0"/>
              <a:t>Lowest Stock Price: $102</a:t>
            </a:r>
          </a:p>
          <a:p>
            <a:pPr>
              <a:buFont typeface="+mj-lt"/>
              <a:buAutoNum type="arabicPeriod"/>
            </a:pPr>
            <a:r>
              <a:rPr lang="en-US" dirty="0"/>
              <a:t>Average Daily Return: 1.8%</a:t>
            </a:r>
          </a:p>
          <a:p>
            <a:pPr>
              <a:buNone/>
            </a:pPr>
            <a:r>
              <a:rPr lang="en-US" dirty="0"/>
              <a:t>📅 </a:t>
            </a:r>
            <a:r>
              <a:rPr lang="en-US" b="1" dirty="0"/>
              <a:t>MARKET TRENDS:</a:t>
            </a:r>
            <a:br>
              <a:rPr lang="en-US" dirty="0"/>
            </a:br>
            <a:r>
              <a:rPr lang="en-US" dirty="0"/>
              <a:t>• Opening and closing prices show strong correlation.</a:t>
            </a:r>
            <a:br>
              <a:rPr lang="en-US" dirty="0"/>
            </a:br>
            <a:r>
              <a:rPr lang="en-US" dirty="0"/>
              <a:t>• High volatility periods correspond with higher trading volumes.</a:t>
            </a:r>
            <a:br>
              <a:rPr lang="en-US" dirty="0"/>
            </a:br>
            <a:r>
              <a:rPr lang="en-US" dirty="0"/>
              <a:t>• Stock prices demonstrate short-term fluctuations.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56AB3-6C99-4616-0094-20689A2BB6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/>
              <a:t>💡 </a:t>
            </a:r>
            <a:r>
              <a:rPr lang="en-US" b="1" dirty="0"/>
              <a:t>FINANCIAL INSIGHTS: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Trading volume spikes during price volatility.</a:t>
            </a:r>
          </a:p>
          <a:p>
            <a:pPr>
              <a:buFont typeface="+mj-lt"/>
              <a:buAutoNum type="arabicPeriod"/>
            </a:pPr>
            <a:r>
              <a:rPr lang="en-US" dirty="0"/>
              <a:t>Daily returns fluctuate due to market conditions.</a:t>
            </a:r>
          </a:p>
          <a:p>
            <a:pPr>
              <a:buFont typeface="+mj-lt"/>
              <a:buAutoNum type="arabicPeriod"/>
            </a:pPr>
            <a:r>
              <a:rPr lang="en-US" dirty="0"/>
              <a:t>High and low prices show consistent trading ranges.</a:t>
            </a:r>
          </a:p>
          <a:p>
            <a:pPr>
              <a:buNone/>
            </a:pPr>
            <a:r>
              <a:rPr lang="en-US" dirty="0"/>
              <a:t>🎯 </a:t>
            </a:r>
            <a:r>
              <a:rPr lang="en-US" b="1" dirty="0"/>
              <a:t>RECOMMENDATIONS: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Monitor trading volume for market trend signals.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risk management strategies during volatile periods.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technical indicators for investment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552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and preprocessing</a:t>
            </a:r>
          </a:p>
          <a:p>
            <a:r>
              <a:t>Exploratory data analysis (EDA)</a:t>
            </a:r>
          </a:p>
          <a:p>
            <a:r>
              <a:t>Feature engineering</a:t>
            </a:r>
          </a:p>
          <a:p>
            <a:r>
              <a:t>Statistical analysis</a:t>
            </a:r>
          </a:p>
          <a:p>
            <a:r>
              <a:t>Data visualization and storytelling</a:t>
            </a:r>
          </a:p>
          <a:p>
            <a:r>
              <a:t>Business insight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Portfolio demonstrates practical data analysis capabilities</a:t>
            </a:r>
          </a:p>
          <a:p>
            <a:r>
              <a:t>Projects convert raw datasets into meaningful insights</a:t>
            </a:r>
          </a:p>
          <a:p>
            <a:r>
              <a:t>Applies structured analytics workflow used in industry</a:t>
            </a:r>
          </a:p>
          <a:p>
            <a:r>
              <a:t>Foundation for advanced analytics and machine learning projects</a:t>
            </a:r>
          </a:p>
          <a:p>
            <a:r>
              <a:t>Strengthens readiness for professional Data Analyst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1078</Words>
  <Application>Microsoft Office PowerPoint</Application>
  <PresentationFormat>On-screen Show (4:3)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Multi-Domain Data Analysis Portfolio</vt:lpstr>
      <vt:lpstr>Portfolio Overview</vt:lpstr>
      <vt:lpstr>Tools &amp; Technologies</vt:lpstr>
      <vt:lpstr>Project 1 – Supermarket Sales Analysis</vt:lpstr>
      <vt:lpstr>Final Summary Report</vt:lpstr>
      <vt:lpstr>Project 2 – Student Performance Analysis</vt:lpstr>
      <vt:lpstr>Final Summary Report</vt:lpstr>
      <vt:lpstr>Project 3 – Weather Data Analysis</vt:lpstr>
      <vt:lpstr>Final Summary Report</vt:lpstr>
      <vt:lpstr>Project 4 – COVID-19 Data Analysis</vt:lpstr>
      <vt:lpstr>Final Summary Report</vt:lpstr>
      <vt:lpstr>Project 5 – Stock Market Analysis</vt:lpstr>
      <vt:lpstr>Final Summary Report</vt:lpstr>
      <vt:lpstr>Key Skills Demonstrated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Adil Jamal</cp:lastModifiedBy>
  <cp:revision>2</cp:revision>
  <dcterms:created xsi:type="dcterms:W3CDTF">2013-01-27T09:14:16Z</dcterms:created>
  <dcterms:modified xsi:type="dcterms:W3CDTF">2026-03-13T21:41:21Z</dcterms:modified>
  <cp:category/>
</cp:coreProperties>
</file>